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1" r:id="rId2"/>
    <p:sldId id="328" r:id="rId3"/>
    <p:sldId id="329" r:id="rId4"/>
    <p:sldId id="330" r:id="rId5"/>
    <p:sldId id="343" r:id="rId6"/>
    <p:sldId id="344" r:id="rId7"/>
    <p:sldId id="34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03DDDD1-1F48-4BEE-8DDF-A4D40DDBC0F9}">
          <p14:sldIdLst>
            <p14:sldId id="261"/>
          </p14:sldIdLst>
        </p14:section>
        <p14:section name="nested vs. unnested" id="{C885E101-A0D9-4F0F-A0F5-E605DACE11C2}">
          <p14:sldIdLst>
            <p14:sldId id="328"/>
            <p14:sldId id="329"/>
            <p14:sldId id="330"/>
          </p14:sldIdLst>
        </p14:section>
        <p14:section name="spindle-opto-on and off" id="{FABC1A74-0212-461F-A86E-60FB2B0279BD}">
          <p14:sldIdLst>
            <p14:sldId id="343"/>
            <p14:sldId id="344"/>
            <p14:sldId id="34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928" autoAdjust="0"/>
  </p:normalViewPr>
  <p:slideViewPr>
    <p:cSldViewPr snapToGrid="0">
      <p:cViewPr varScale="1">
        <p:scale>
          <a:sx n="114" d="100"/>
          <a:sy n="114" d="100"/>
        </p:scale>
        <p:origin x="6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451810-041C-4504-AC82-21EE59C3FFB8}" type="datetimeFigureOut">
              <a:rPr lang="en-US" smtClean="0"/>
              <a:t>7/3/2018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77FCA-6612-489B-8626-4AC9D1641F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734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77FCA-6612-489B-8626-4AC9D1641F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0277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spindle_all_units_binned2pi_v2_UP2</a:t>
            </a:r>
          </a:p>
          <a:p>
            <a:r>
              <a:rPr lang="en-US" dirty="0" smtClean="0"/>
              <a:t>cycle_pairwise_pairs_stats_UP_Post21_10_14Hz_21</a:t>
            </a:r>
          </a:p>
          <a:p>
            <a:r>
              <a:rPr lang="en-US" dirty="0" smtClean="0"/>
              <a:t>cycle_pairwise_pairs_stats_UP_Post21_10_14Hz_22</a:t>
            </a:r>
          </a:p>
          <a:p>
            <a:r>
              <a:rPr lang="en-US" dirty="0" smtClean="0"/>
              <a:t>cycle_pairwise_pairs_stats_UP_Post21_2_10_14Hz_21</a:t>
            </a:r>
          </a:p>
          <a:p>
            <a:r>
              <a:rPr lang="en-US" dirty="0" smtClean="0"/>
              <a:t>cycle_pairwise_pairs_stats_UP_Post21_2_10_14Hz_22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77FCA-6612-489B-8626-4AC9D1641F2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1613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77FCA-6612-489B-8626-4AC9D1641F2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414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77FCA-6612-489B-8626-4AC9D1641F2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5839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Bin</a:t>
            </a:r>
            <a:r>
              <a:rPr lang="en-US" baseline="0" dirty="0" smtClean="0"/>
              <a:t> size kern=0.00025</a:t>
            </a:r>
            <a:endParaRPr lang="en-US" dirty="0" smtClean="0"/>
          </a:p>
          <a:p>
            <a:r>
              <a:rPr lang="en-US" dirty="0" smtClean="0"/>
              <a:t>spindle_all_units_binned2pi_v2_UP31</a:t>
            </a:r>
          </a:p>
          <a:p>
            <a:r>
              <a:rPr lang="en-US" dirty="0" smtClean="0"/>
              <a:t>cycle_pairwise_pairs_stats_UP31_10_14Hz_21</a:t>
            </a:r>
          </a:p>
          <a:p>
            <a:r>
              <a:rPr lang="en-US" dirty="0" smtClean="0"/>
              <a:t>cycle_pairwise_pairs_stats_UP31_10_14Hz_22</a:t>
            </a:r>
          </a:p>
          <a:p>
            <a:r>
              <a:rPr lang="en-US" dirty="0" smtClean="0"/>
              <a:t>cycle_pairwise_pairs_stats_UP31_2_10_14Hz_21</a:t>
            </a:r>
          </a:p>
          <a:p>
            <a:r>
              <a:rPr lang="en-US" dirty="0" smtClean="0"/>
              <a:t>cycle_pairwise_pairs_stats_UP31_2_10_14Hz_22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77FCA-6612-489B-8626-4AC9D1641F2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116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77FCA-6612-489B-8626-4AC9D1641F2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4754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When reactivation occurs – how spindle works (modulates</a:t>
            </a:r>
            <a:r>
              <a:rPr lang="en-US" baseline="0" dirty="0" smtClean="0"/>
              <a:t> spiking activities)</a:t>
            </a:r>
            <a:r>
              <a:rPr lang="en-US" dirty="0" smtClean="0"/>
              <a:t> during that period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77FCA-6612-489B-8626-4AC9D1641F2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590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63AAF-14B7-4DC2-8A67-B2F4DEDC9203}" type="datetimeFigureOut">
              <a:rPr lang="en-US" smtClean="0"/>
              <a:t>7/3/2018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7C2E-08AA-4165-9468-2AE5CA157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90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63AAF-14B7-4DC2-8A67-B2F4DEDC9203}" type="datetimeFigureOut">
              <a:rPr lang="en-US" smtClean="0"/>
              <a:t>7/3/2018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7C2E-08AA-4165-9468-2AE5CA157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722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63AAF-14B7-4DC2-8A67-B2F4DEDC9203}" type="datetimeFigureOut">
              <a:rPr lang="en-US" smtClean="0"/>
              <a:t>7/3/2018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7C2E-08AA-4165-9468-2AE5CA157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738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63AAF-14B7-4DC2-8A67-B2F4DEDC9203}" type="datetimeFigureOut">
              <a:rPr lang="en-US" smtClean="0"/>
              <a:t>7/3/2018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7C2E-08AA-4165-9468-2AE5CA157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7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63AAF-14B7-4DC2-8A67-B2F4DEDC9203}" type="datetimeFigureOut">
              <a:rPr lang="en-US" smtClean="0"/>
              <a:t>7/3/2018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7C2E-08AA-4165-9468-2AE5CA157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309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63AAF-14B7-4DC2-8A67-B2F4DEDC9203}" type="datetimeFigureOut">
              <a:rPr lang="en-US" smtClean="0"/>
              <a:t>7/3/2018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7C2E-08AA-4165-9468-2AE5CA157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53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63AAF-14B7-4DC2-8A67-B2F4DEDC9203}" type="datetimeFigureOut">
              <a:rPr lang="en-US" smtClean="0"/>
              <a:t>7/3/2018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7C2E-08AA-4165-9468-2AE5CA157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730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63AAF-14B7-4DC2-8A67-B2F4DEDC9203}" type="datetimeFigureOut">
              <a:rPr lang="en-US" smtClean="0"/>
              <a:t>7/3/2018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7C2E-08AA-4165-9468-2AE5CA157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233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63AAF-14B7-4DC2-8A67-B2F4DEDC9203}" type="datetimeFigureOut">
              <a:rPr lang="en-US" smtClean="0"/>
              <a:t>7/3/2018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7C2E-08AA-4165-9468-2AE5CA157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269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63AAF-14B7-4DC2-8A67-B2F4DEDC9203}" type="datetimeFigureOut">
              <a:rPr lang="en-US" smtClean="0"/>
              <a:t>7/3/2018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7C2E-08AA-4165-9468-2AE5CA157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273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63AAF-14B7-4DC2-8A67-B2F4DEDC9203}" type="datetimeFigureOut">
              <a:rPr lang="en-US" smtClean="0"/>
              <a:t>7/3/2018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7C2E-08AA-4165-9468-2AE5CA157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251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63AAF-14B7-4DC2-8A67-B2F4DEDC9203}" type="datetimeFigureOut">
              <a:rPr lang="en-US" smtClean="0"/>
              <a:t>7/3/2018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4E7C2E-08AA-4165-9468-2AE5CA157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785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671119" y="487579"/>
            <a:ext cx="1113219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For the case that comparing two groups have different number of events, I shuffled and made 100 subsets. Next rho was calculated in each subset and then mean rho was calculated across 100 subsets.</a:t>
            </a:r>
          </a:p>
          <a:p>
            <a:endParaRPr lang="en-US" sz="2000" dirty="0" smtClean="0"/>
          </a:p>
          <a:p>
            <a:r>
              <a:rPr lang="en-US" sz="2800" b="1" dirty="0" smtClean="0"/>
              <a:t>1</a:t>
            </a:r>
            <a:r>
              <a:rPr lang="en-US" sz="2800" b="1" dirty="0"/>
              <a:t>. </a:t>
            </a:r>
            <a:r>
              <a:rPr lang="en-US" sz="2800" b="1" dirty="0" smtClean="0"/>
              <a:t>nested </a:t>
            </a:r>
            <a:r>
              <a:rPr lang="en-US" sz="2800" b="1" dirty="0"/>
              <a:t>(blue) vs. </a:t>
            </a:r>
            <a:r>
              <a:rPr lang="en-US" sz="2800" b="1" dirty="0" err="1" smtClean="0"/>
              <a:t>unnested</a:t>
            </a:r>
            <a:r>
              <a:rPr lang="en-US" sz="2800" b="1" dirty="0" smtClean="0"/>
              <a:t> </a:t>
            </a:r>
            <a:r>
              <a:rPr lang="en-US" sz="2800" b="1" dirty="0"/>
              <a:t>(red)</a:t>
            </a:r>
          </a:p>
          <a:p>
            <a:r>
              <a:rPr lang="en-US" sz="2800" b="1" dirty="0" smtClean="0"/>
              <a:t>During post-sleep</a:t>
            </a:r>
          </a:p>
          <a:p>
            <a:r>
              <a:rPr lang="en-US" sz="2000" dirty="0" smtClean="0"/>
              <a:t>(I used smaller bin size (</a:t>
            </a:r>
            <a:r>
              <a:rPr lang="en-US" sz="2000" dirty="0" err="1" smtClean="0"/>
              <a:t>dt</a:t>
            </a:r>
            <a:r>
              <a:rPr lang="en-US" sz="2000" dirty="0" smtClean="0"/>
              <a:t>=0.0005 , kern = 0.00025 and it made larger difference between nested and </a:t>
            </a:r>
            <a:r>
              <a:rPr lang="en-US" sz="2000" dirty="0" err="1" smtClean="0"/>
              <a:t>unnested</a:t>
            </a:r>
            <a:r>
              <a:rPr lang="en-US" sz="2000" dirty="0" smtClean="0"/>
              <a:t>)</a:t>
            </a:r>
          </a:p>
          <a:p>
            <a:endParaRPr lang="en-US" sz="2800" b="1" dirty="0" smtClean="0"/>
          </a:p>
          <a:p>
            <a:r>
              <a:rPr lang="en-US" sz="2800" b="1" dirty="0" smtClean="0"/>
              <a:t>2. </a:t>
            </a:r>
            <a:r>
              <a:rPr lang="en-US" sz="2800" b="1" dirty="0" err="1" smtClean="0"/>
              <a:t>Spindles+OPTO_ON</a:t>
            </a:r>
            <a:r>
              <a:rPr lang="en-US" sz="2800" b="1" dirty="0" smtClean="0"/>
              <a:t> </a:t>
            </a:r>
            <a:r>
              <a:rPr lang="en-US" sz="2800" b="1" dirty="0"/>
              <a:t>(blue) vs. </a:t>
            </a:r>
            <a:r>
              <a:rPr lang="en-US" sz="2800" b="1" dirty="0" err="1" smtClean="0"/>
              <a:t>Spindles+OPTO_OFF</a:t>
            </a:r>
            <a:r>
              <a:rPr lang="en-US" sz="2800" b="1" dirty="0" smtClean="0"/>
              <a:t> </a:t>
            </a:r>
            <a:r>
              <a:rPr lang="en-US" sz="2800" b="1" dirty="0"/>
              <a:t>(red)</a:t>
            </a:r>
          </a:p>
          <a:p>
            <a:r>
              <a:rPr lang="en-US" sz="2800" b="1" dirty="0" smtClean="0"/>
              <a:t>During post-sleep </a:t>
            </a:r>
            <a:r>
              <a:rPr lang="en-US" sz="2000" dirty="0"/>
              <a:t>(I used smaller bin size </a:t>
            </a:r>
            <a:r>
              <a:rPr lang="en-US" sz="2000" dirty="0" smtClean="0"/>
              <a:t>(only for </a:t>
            </a:r>
            <a:r>
              <a:rPr lang="en-US" sz="2000" dirty="0"/>
              <a:t>kern = 0.00025 )</a:t>
            </a:r>
            <a:endParaRPr lang="en-US" sz="2800" dirty="0"/>
          </a:p>
          <a:p>
            <a:endParaRPr lang="en-US" sz="2800" b="1" dirty="0" smtClean="0"/>
          </a:p>
          <a:p>
            <a:r>
              <a:rPr lang="en-US" sz="2800" b="1" dirty="0" smtClean="0"/>
              <a:t>X-1. Phase (Pi)</a:t>
            </a:r>
          </a:p>
          <a:p>
            <a:r>
              <a:rPr lang="en-US" sz="2800" b="1" dirty="0" smtClean="0"/>
              <a:t>X-2. </a:t>
            </a:r>
            <a:r>
              <a:rPr lang="en-US" sz="2800" b="1" dirty="0" err="1" smtClean="0"/>
              <a:t>Xcorr</a:t>
            </a:r>
            <a:r>
              <a:rPr lang="en-US" sz="2800" b="1" dirty="0" smtClean="0"/>
              <a:t> (mean)</a:t>
            </a:r>
          </a:p>
          <a:p>
            <a:r>
              <a:rPr lang="en-US" sz="2800" b="1" dirty="0" smtClean="0"/>
              <a:t>X-3. </a:t>
            </a:r>
            <a:r>
              <a:rPr lang="en-US" sz="2800" b="1" dirty="0" err="1" smtClean="0"/>
              <a:t>Xcorr</a:t>
            </a:r>
            <a:r>
              <a:rPr lang="en-US" sz="2800" b="1" dirty="0" smtClean="0"/>
              <a:t> (max – min)</a:t>
            </a:r>
          </a:p>
        </p:txBody>
      </p:sp>
    </p:spTree>
    <p:extLst>
      <p:ext uri="{BB962C8B-B14F-4D97-AF65-F5344CB8AC3E}">
        <p14:creationId xmlns:p14="http://schemas.microsoft.com/office/powerpoint/2010/main" val="2113821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0957" y="369334"/>
            <a:ext cx="4243291" cy="623453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3147" y="369332"/>
            <a:ext cx="4243292" cy="623453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37" y="369331"/>
            <a:ext cx="4243293" cy="62345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7883" y="27950"/>
            <a:ext cx="4020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r>
              <a:rPr lang="en-US" b="1" dirty="0" smtClean="0"/>
              <a:t>-1. </a:t>
            </a:r>
            <a:r>
              <a:rPr lang="en-US" b="1" dirty="0"/>
              <a:t>Pi </a:t>
            </a:r>
            <a:r>
              <a:rPr lang="en-US" b="1" dirty="0" smtClean="0"/>
              <a:t>- Post-sleep - </a:t>
            </a:r>
            <a:r>
              <a:rPr lang="en-US" b="1" dirty="0" smtClean="0">
                <a:solidFill>
                  <a:srgbClr val="0000FF"/>
                </a:solidFill>
              </a:rPr>
              <a:t>nested</a:t>
            </a:r>
            <a:r>
              <a:rPr lang="en-US" b="1" dirty="0" smtClean="0"/>
              <a:t> vs. </a:t>
            </a:r>
            <a:r>
              <a:rPr lang="en-US" b="1" dirty="0" err="1" smtClean="0">
                <a:solidFill>
                  <a:srgbClr val="FF0000"/>
                </a:solidFill>
              </a:rPr>
              <a:t>unnested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93732" y="397282"/>
            <a:ext cx="11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OPTO_UP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5399164" y="397282"/>
            <a:ext cx="1502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OPTO_DOWN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9415167" y="397286"/>
            <a:ext cx="1208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OPTO_OFF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20583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0957" y="369334"/>
            <a:ext cx="4243291" cy="623453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3147" y="369332"/>
            <a:ext cx="4243292" cy="623453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37" y="369332"/>
            <a:ext cx="4243292" cy="623453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7883" y="27950"/>
            <a:ext cx="4349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1-2. </a:t>
            </a:r>
            <a:r>
              <a:rPr lang="en-US" b="1" dirty="0" err="1"/>
              <a:t>Xcorr</a:t>
            </a:r>
            <a:r>
              <a:rPr lang="en-US" b="1" dirty="0"/>
              <a:t> - Post-sleep </a:t>
            </a:r>
            <a:r>
              <a:rPr lang="en-US" b="1" dirty="0" smtClean="0"/>
              <a:t>- </a:t>
            </a:r>
            <a:r>
              <a:rPr lang="en-US" b="1" dirty="0">
                <a:solidFill>
                  <a:srgbClr val="0000FF"/>
                </a:solidFill>
              </a:rPr>
              <a:t>nested</a:t>
            </a:r>
            <a:r>
              <a:rPr lang="en-US" b="1" dirty="0"/>
              <a:t> vs. </a:t>
            </a:r>
            <a:r>
              <a:rPr lang="en-US" b="1" dirty="0" err="1">
                <a:solidFill>
                  <a:srgbClr val="FF0000"/>
                </a:solidFill>
              </a:rPr>
              <a:t>unnested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93732" y="397282"/>
            <a:ext cx="11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OPTO_UP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5399164" y="397282"/>
            <a:ext cx="1502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OPTO_DOWN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9415167" y="397286"/>
            <a:ext cx="1208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OPTO_OFF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69440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0957" y="369334"/>
            <a:ext cx="4243291" cy="623453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3147" y="369332"/>
            <a:ext cx="4243292" cy="623453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37" y="369332"/>
            <a:ext cx="4243291" cy="623453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7883" y="27950"/>
            <a:ext cx="5006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1-3. </a:t>
            </a:r>
            <a:r>
              <a:rPr lang="en-US" b="1" dirty="0" err="1"/>
              <a:t>Xcorr</a:t>
            </a:r>
            <a:r>
              <a:rPr lang="en-US" b="1" dirty="0"/>
              <a:t> (M-m) - Post-sleep </a:t>
            </a:r>
            <a:r>
              <a:rPr lang="en-US" b="1" dirty="0" smtClean="0"/>
              <a:t>- </a:t>
            </a:r>
            <a:r>
              <a:rPr lang="en-US" b="1" dirty="0">
                <a:solidFill>
                  <a:srgbClr val="0000FF"/>
                </a:solidFill>
              </a:rPr>
              <a:t>nested</a:t>
            </a:r>
            <a:r>
              <a:rPr lang="en-US" b="1" dirty="0"/>
              <a:t> vs. </a:t>
            </a:r>
            <a:r>
              <a:rPr lang="en-US" b="1" dirty="0" err="1">
                <a:solidFill>
                  <a:srgbClr val="FF0000"/>
                </a:solidFill>
              </a:rPr>
              <a:t>unnested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93732" y="397282"/>
            <a:ext cx="11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OPTO_UP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5399164" y="397282"/>
            <a:ext cx="1502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OPTO_DOWN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9415167" y="397286"/>
            <a:ext cx="1208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OPTO_OFF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16221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0957" y="369334"/>
            <a:ext cx="4243291" cy="623453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3147" y="369332"/>
            <a:ext cx="4243291" cy="623453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37" y="369332"/>
            <a:ext cx="4243292" cy="623453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7883" y="27950"/>
            <a:ext cx="6266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2-1. Pi - Post-sleep - </a:t>
            </a:r>
            <a:r>
              <a:rPr lang="en-US" b="1" dirty="0" err="1">
                <a:solidFill>
                  <a:srgbClr val="0000FF"/>
                </a:solidFill>
              </a:rPr>
              <a:t>spindles+OPTO_ON</a:t>
            </a:r>
            <a:r>
              <a:rPr lang="en-US" b="1" dirty="0"/>
              <a:t> vs. </a:t>
            </a:r>
            <a:r>
              <a:rPr lang="en-US" b="1" dirty="0" err="1">
                <a:solidFill>
                  <a:srgbClr val="FF0000"/>
                </a:solidFill>
              </a:rPr>
              <a:t>spindles+OPTO_OFF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883021" y="397286"/>
            <a:ext cx="2548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OPTO_UP+OPTO_DOWN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693732" y="397282"/>
            <a:ext cx="11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OPTO_UP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5399164" y="397282"/>
            <a:ext cx="1502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OPTO_DOWN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21311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0957" y="369334"/>
            <a:ext cx="4243290" cy="623453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3147" y="369332"/>
            <a:ext cx="4243291" cy="623453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37" y="369332"/>
            <a:ext cx="4243291" cy="62345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7883" y="27950"/>
            <a:ext cx="6595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2-2. </a:t>
            </a:r>
            <a:r>
              <a:rPr lang="en-US" b="1" dirty="0" err="1"/>
              <a:t>Xcorr</a:t>
            </a:r>
            <a:r>
              <a:rPr lang="en-US" b="1" dirty="0"/>
              <a:t> - Post-sleep - </a:t>
            </a:r>
            <a:r>
              <a:rPr lang="en-US" b="1" dirty="0" err="1">
                <a:solidFill>
                  <a:srgbClr val="0000FF"/>
                </a:solidFill>
              </a:rPr>
              <a:t>spindles+OPTO_ON</a:t>
            </a:r>
            <a:r>
              <a:rPr lang="en-US" b="1" dirty="0"/>
              <a:t> vs. </a:t>
            </a:r>
            <a:r>
              <a:rPr lang="en-US" b="1" dirty="0" err="1">
                <a:solidFill>
                  <a:srgbClr val="FF0000"/>
                </a:solidFill>
              </a:rPr>
              <a:t>spindles+OPTO_OFF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883021" y="397286"/>
            <a:ext cx="2548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OPTO_UP+OPTO_DOWN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693732" y="397282"/>
            <a:ext cx="11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OPTO_UP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5399164" y="397282"/>
            <a:ext cx="1502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OPTO_DOWN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52382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3892" y="369333"/>
            <a:ext cx="4243290" cy="62345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3147" y="369332"/>
            <a:ext cx="4243290" cy="623453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37" y="369332"/>
            <a:ext cx="4243290" cy="62345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7883" y="27950"/>
            <a:ext cx="7252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2-3. </a:t>
            </a:r>
            <a:r>
              <a:rPr lang="en-US" b="1" dirty="0" err="1"/>
              <a:t>Xcorr</a:t>
            </a:r>
            <a:r>
              <a:rPr lang="en-US" b="1" dirty="0"/>
              <a:t> (M-m) - Post-sleep - </a:t>
            </a:r>
            <a:r>
              <a:rPr lang="en-US" b="1" dirty="0" err="1">
                <a:solidFill>
                  <a:srgbClr val="0000FF"/>
                </a:solidFill>
              </a:rPr>
              <a:t>spindles+OPTO_ON</a:t>
            </a:r>
            <a:r>
              <a:rPr lang="en-US" b="1" dirty="0"/>
              <a:t> vs. </a:t>
            </a:r>
            <a:r>
              <a:rPr lang="en-US" b="1" dirty="0" err="1">
                <a:solidFill>
                  <a:srgbClr val="FF0000"/>
                </a:solidFill>
              </a:rPr>
              <a:t>spindles+OPTO_OFF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883021" y="397286"/>
            <a:ext cx="2548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OPTO_UP+OPTO_DOWN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693732" y="397282"/>
            <a:ext cx="11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OPTO_UP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5399164" y="397282"/>
            <a:ext cx="1502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OPTO_DOWN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89960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10169</TotalTime>
  <Words>239</Words>
  <Application>Microsoft Office PowerPoint</Application>
  <PresentationFormat>Widescreen</PresentationFormat>
  <Paragraphs>55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Jack0_UCSF</dc:creator>
  <cp:lastModifiedBy>Jack0_UCSF</cp:lastModifiedBy>
  <cp:revision>137</cp:revision>
  <dcterms:created xsi:type="dcterms:W3CDTF">2018-05-17T22:41:20Z</dcterms:created>
  <dcterms:modified xsi:type="dcterms:W3CDTF">2018-07-03T18:19:42Z</dcterms:modified>
</cp:coreProperties>
</file>